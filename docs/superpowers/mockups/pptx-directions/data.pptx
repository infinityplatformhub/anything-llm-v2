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5"/>
          <c:y val="0.05"/>
          <c:w val="0.78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1E7A4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4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7A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7A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  <c:pt idx="6">
                    <c:v>ก.ค.</c:v>
                  </c:pt>
                  <c:pt idx="7">
                    <c:v>ส.ค.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2.35</c:v>
                </c:pt>
                <c:pt idx="1">
                  <c:v>2.2</c:v>
                </c:pt>
                <c:pt idx="2">
                  <c:v>2.05</c:v>
                </c:pt>
                <c:pt idx="3">
                  <c:v>1.95</c:v>
                </c:pt>
                <c:pt idx="4">
                  <c:v>1.92</c:v>
                </c:pt>
                <c:pt idx="5">
                  <c:v>1.83</c:v>
                </c:pt>
                <c:pt idx="6">
                  <c:v>2.89</c:v>
                </c:pt>
                <c:pt idx="7">
                  <c:v>1.81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1414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6D9DB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4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377"/>
                </a:solidFill>
                <a:latin typeface="Leelawadee U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ค่าใช้จ่าย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6F7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95A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4B9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BDDE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ค่าบริการทั่วไป</c:v>
                </c:pt>
                <c:pt idx="1">
                  <c:v>ค่าใช้จ่ายพนักงาน</c:v>
                </c:pt>
                <c:pt idx="2">
                  <c:v>ภาษี</c:v>
                </c:pt>
                <c:pt idx="3">
                  <c:v>เบี้ยประกัน</c:v>
                </c:pt>
                <c:pt idx="4">
                  <c:v>อื่นๆ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7799188</c:v>
                </c:pt>
                <c:pt idx="1">
                  <c:v>4255441</c:v>
                </c:pt>
                <c:pt idx="2">
                  <c:v>1411423</c:v>
                </c:pt>
                <c:pt idx="3">
                  <c:v>272405</c:v>
                </c:pt>
                <c:pt idx="4">
                  <c:v>714757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5"/>
          <c:y val="0.05"/>
          <c:w val="0.7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ผลต่างกำไร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.00;-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4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7A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7A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7A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กำไร 2568</c:v>
                  </c:pt>
                  <c:pt idx="1">
                    <c:v>รายได้หาย</c:v>
                  </c:pt>
                  <c:pt idx="2">
                    <c:v>ค่าบริการเพิ่ม</c:v>
                  </c:pt>
                  <c:pt idx="3">
                    <c:v>ค่าพนักงานลด</c:v>
                  </c:pt>
                  <c:pt idx="4">
                    <c:v>เบ็ดเตล็ดไม่ซ้ำ</c:v>
                  </c:pt>
                  <c:pt idx="5">
                    <c:v>อื่นๆ</c:v>
                  </c:pt>
                  <c:pt idx="6">
                    <c:v>กำไร 8 ด. 2569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7.82</c:v>
                </c:pt>
                <c:pt idx="1">
                  <c:v>-9.75</c:v>
                </c:pt>
                <c:pt idx="2">
                  <c:v>-1.8</c:v>
                </c:pt>
                <c:pt idx="3">
                  <c:v>0.99</c:v>
                </c:pt>
                <c:pt idx="4">
                  <c:v>4.93</c:v>
                </c:pt>
                <c:pt idx="5">
                  <c:v>0.35</c:v>
                </c:pt>
                <c:pt idx="6">
                  <c:v>2.54</c:v>
                </c:pt>
              </c:numCache>
            </c:numRef>
          </c:val>
        </c:ser>
        <c:dLbls>
          <c:numFmt formatCode="0.00;-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1414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9AA0A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4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12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377"/>
                </a:solidFill>
                <a:latin typeface="Leelawadee UI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บริษัท อินฟินิตี้ แพลทฟอร์ม จำกัด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14813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รายงานผลประกอบการ ผู้บริหาร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139696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4C5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ม.ค.–ก.ย. 2569 · เทียบทั้งปี 2568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011680" cy="0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358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กำไรสุทธิ 2.54 ล้านบาท ลดลง 67.5% ต้นทุนไม่ได้ลดตามรายได้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รายได้หด 36.5% แต่กำไรหด 67.5% — ต้นทุนไม่ได้ลดตามรายได้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1790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17602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16.99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52374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89504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-36.5%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328416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· 26.77 ล้านบาท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91156" y="1572768"/>
            <a:ext cx="0" cy="214884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7460" y="151790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37460" y="1847088"/>
            <a:ext cx="17602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14.45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537460" y="252374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37460" y="2889504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A61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-23.7%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37460" y="3328416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· 18.95 ล้านบาท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25696" y="1572768"/>
            <a:ext cx="0" cy="214884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51790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กำไรสุทธิ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1847088"/>
            <a:ext cx="17602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2.54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72000" y="252374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889504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-67.5%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328416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· 7.82 ล้านบาท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60236" y="1572768"/>
            <a:ext cx="0" cy="214884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6540" y="151790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อัตรากำไรสุทธิ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6540" y="1847088"/>
            <a:ext cx="17602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15.0%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606540" y="2523744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ของรายได้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6540" y="2889504"/>
            <a:ext cx="17602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-14.2 pt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06540" y="3328416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· 29.2%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 · หน่วย: บาท · ตัวเลข 8 เดือนแรกเทียบทั้งปี 2568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รายได้ต่ำกว่ากรอบแผน 5 ใน 8 เดือน และไม่มีเดือนใดฟื้นได้ต่อเนื่อง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81381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1194664" y="2004694"/>
            <a:ext cx="6347765" cy="0"/>
          </a:xfrm>
          <a:prstGeom prst="line">
            <a:avLst/>
          </a:prstGeom>
          <a:noFill/>
          <a:ln w="12700">
            <a:solidFill>
              <a:srgbClr val="0F4C5C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597292" y="182181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4C5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แผนบน 2.34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94664" y="2179911"/>
            <a:ext cx="6347765" cy="0"/>
          </a:xfrm>
          <a:prstGeom prst="line">
            <a:avLst/>
          </a:prstGeom>
          <a:noFill/>
          <a:ln w="12700">
            <a:solidFill>
              <a:srgbClr val="0F4C5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597292" y="2198199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4C5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แผนล่าง 2.12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กรอบแผน = ค่าเฉลี่ยรายเดือนปี 2568 ±5% (2,118,018–2,342,072 บาท) · 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ค่าบริการทั่วไปกินค่าใช้จ่าย 54% และเป็นก้อนเดียวที่โตขึ้นจากปีก่อน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98448"/>
          <a:ext cx="35661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325880" y="24551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14.45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25880" y="30038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34840" y="1371600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4840" y="1554480"/>
            <a:ext cx="146304" cy="146304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14721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147218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54%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35240" y="14721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7,799,188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34840" y="1883664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2066544"/>
            <a:ext cx="146304" cy="146304"/>
          </a:xfrm>
          <a:prstGeom prst="rect">
            <a:avLst/>
          </a:prstGeom>
          <a:solidFill>
            <a:srgbClr val="2E6F7E"/>
          </a:solidFill>
          <a:ln w="12700">
            <a:solidFill>
              <a:srgbClr val="2E6F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9842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ค่าใช้จ่ายพนักงาน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49440" y="19842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35240" y="198424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4,255,441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34840" y="2395728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4840" y="2578608"/>
            <a:ext cx="146304" cy="146304"/>
          </a:xfrm>
          <a:prstGeom prst="rect">
            <a:avLst/>
          </a:prstGeom>
          <a:solidFill>
            <a:srgbClr val="5B95A2"/>
          </a:solidFill>
          <a:ln w="12700">
            <a:solidFill>
              <a:srgbClr val="5B95A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4963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9440" y="24963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35240" y="24963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1,411,423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34840" y="2907792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3090672"/>
            <a:ext cx="146304" cy="146304"/>
          </a:xfrm>
          <a:prstGeom prst="rect">
            <a:avLst/>
          </a:prstGeom>
          <a:solidFill>
            <a:srgbClr val="94B9C4"/>
          </a:solidFill>
          <a:ln w="12700">
            <a:solidFill>
              <a:srgbClr val="94B9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0083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เบี้ยประกัน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49440" y="3008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35240" y="30083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272,405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434840" y="3419856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34840" y="3602736"/>
            <a:ext cx="146304" cy="146304"/>
          </a:xfrm>
          <a:prstGeom prst="rect">
            <a:avLst/>
          </a:prstGeom>
          <a:solidFill>
            <a:srgbClr val="CBDDE2"/>
          </a:solidFill>
          <a:ln w="12700">
            <a:solidFill>
              <a:srgbClr val="CBDD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520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อื่นๆ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49440" y="35204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35240" y="35204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714,757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434840" y="3931920"/>
            <a:ext cx="420624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34840" y="40782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61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ค่าบริการทั่วไปเพิ่มขึ้น 1,798,789 บาทจากปี 2568 สวนทางกับรายได้ที่หายไป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รวมค่าใช้จ่าย 14,453,214 บาท · 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กำไรหายไป 5.28 ล้านบาท เกือบทั้งหมดมาจากรายได้บริการที่หายไป 9.75 ล้าน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298448"/>
          <a:ext cx="8138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1194664" y="1832930"/>
            <a:ext cx="6185002" cy="0"/>
          </a:xfrm>
          <a:prstGeom prst="line">
            <a:avLst/>
          </a:prstGeom>
          <a:noFill/>
          <a:ln w="12700">
            <a:solidFill>
              <a:srgbClr val="6E7377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434529" y="163176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ตั้งต้น 7.82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194664" y="2311710"/>
            <a:ext cx="6185002" cy="0"/>
          </a:xfrm>
          <a:prstGeom prst="line">
            <a:avLst/>
          </a:prstGeom>
          <a:noFill/>
          <a:ln w="12700">
            <a:solidFill>
              <a:srgbClr val="6E7377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434529" y="211054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ปลายทาง 2.54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แท่งคือผลต่างจากปี 2568 ทั้งปี ไม่ใช่ยอดสะสม · หน่วย: ล้านบาท · 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ความเสี่ยงเร่งด่วนสามข้อ ทั้งหมดยังปิดได้ภายในเดือน ก.ย. นี้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47472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ก.ย. 2569 รายได้บันทึก 0 บาท</a:t>
                      </a:r>
                      <a:endParaRPr lang="en-US" sz="19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แต่ค่าใช้จ่าย 422,964 บาทแล้ว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ค่าบริการทั่วไป +30%</a:t>
                      </a:r>
                      <a:endParaRPr lang="en-US" sz="19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7,799,188 บาท เพิ่ม 1,798,789 จากปี 2568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รายได้ 5 ใน 8 เดือนต่ำกว่าแผน</a:t>
                      </a:r>
                      <a:endParaRPr lang="en-US" sz="19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พ.ค. ขาดทุน 19,811 บาท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416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4C5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ทั้งสามข้อเป็นเรื่องเอกสารและสัญญา ไม่ใช่เรื่องความต้องการของตลาด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สามการตัดสินใจ คืนกำไรได้ราว 390,000 บาท/ปี ด้วยต้นทุนเกือบศูนย์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1691640"/>
                <a:gridCol w="1783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การตัดสินใจ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เจ้าของ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ผลที่คาด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4C5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</a:t>
                      </a:r>
                      <a:endParaRPr lang="en-US" sz="2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ปิดเอกสารรายได้ ก.ย. ให้ครบก่อน 30 ก.ย.</a:t>
                      </a:r>
                      <a:endParaRPr lang="en-US" sz="18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ฝ่ายบัญชี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E7A4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ต้นทุน 0</a:t>
                      </a:r>
                      <a:endParaRPr lang="en-US" sz="17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4C5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</a:t>
                      </a:r>
                      <a:endParaRPr lang="en-US" sz="2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ทบทวนสัญญาค่าบริการทั่วไป ลด 5%</a:t>
                      </a:r>
                      <a:endParaRPr lang="en-US" sz="18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ฝ่ายจัดซื้อ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E7A4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≈ 390,000 บาท/ปี</a:t>
                      </a:r>
                      <a:endParaRPr lang="en-US" sz="17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4C5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</a:t>
                      </a:r>
                      <a:endParaRPr lang="en-US" sz="20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ล็อกเป้ารายได้ Q4 ที่ 2,342,072 บาท/เดือน</a:t>
                      </a:r>
                      <a:endParaRPr lang="en-US" sz="18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E737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ฝ่ายขาย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E7A4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แผนบน</a:t>
                      </a:r>
                      <a:endParaRPr lang="en-US" sz="17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0" marR="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ผลที่คาดของข้อ 2 คำนวณจากค่าบริการทั่วไป 7,799,188 บาท × 5% · 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ถ้ารักษาระดับรายได้เดิมไว้ได้ ปิดปีที่ 25.49 ล้านบาท ต่ำกว่าปีก่อนเพียง 4.8%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ประมาณการทั้งปี 2569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4C5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25.49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8895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1627632"/>
            <a:ext cx="0" cy="1572768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ทำได้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938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26.77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00600" y="26151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ล้านบาท · ส่วนต่าง -4.8%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9626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326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แต่กำไรจะไม่กลับมาเอง ถ้าค่าบริการทั่วไปยังโตสวนทางรายได้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661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หากรายได้ ก.ย.–ธ.ค. เท่าค่าเฉลี่ย 8 เดือน ปิดปีที่ 25.49 ล้านบาท ต่ำกว่าปี 2568 เพียง 4.8%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8138160" cy="0"/>
          </a:xfrm>
          <a:prstGeom prst="line">
            <a:avLst/>
          </a:prstGeom>
          <a:noFill/>
          <a:ln w="9525">
            <a:solidFill>
              <a:srgbClr val="D6D9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268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18120" y="4626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E737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 Executive Report 2569</dc:title>
  <dc:subject>PptxGenJS Presentation</dc:subject>
  <dc:creator>Infinity Platform</dc:creator>
  <cp:lastModifiedBy>Infinity Platform</cp:lastModifiedBy>
  <cp:revision>1</cp:revision>
  <dcterms:created xsi:type="dcterms:W3CDTF">2026-09-08T07:20:19Z</dcterms:created>
  <dcterms:modified xsi:type="dcterms:W3CDTF">2026-09-08T07:20:19Z</dcterms:modified>
</cp:coreProperties>
</file>