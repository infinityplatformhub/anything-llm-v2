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รายได้</c:v>
                </c:pt>
              </c:strCache>
            </c:strRef>
          </c:tx>
          <c:spPr>
            <a:solidFill>
              <a:srgbClr val="0E111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E1116"/>
                    </a:solidFill>
                    <a:latin typeface="Leelawade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111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11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7CBD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CBD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7CBD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7CBD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3FF4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7CBD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ม.ค.</c:v>
                  </c:pt>
                  <c:pt idx="1">
                    <c:v>ก.พ.</c:v>
                  </c:pt>
                  <c:pt idx="2">
                    <c:v>มี.ค.</c:v>
                  </c:pt>
                  <c:pt idx="3">
                    <c:v>เม.ย.</c:v>
                  </c:pt>
                  <c:pt idx="4">
                    <c:v>พ.ค.</c:v>
                  </c:pt>
                  <c:pt idx="5">
                    <c:v>มิ.ย.</c:v>
                  </c:pt>
                  <c:pt idx="6">
                    <c:v>ก.ค.</c:v>
                  </c:pt>
                  <c:pt idx="7">
                    <c:v>ส.ค.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2.35</c:v>
                </c:pt>
                <c:pt idx="1">
                  <c:v>2.2</c:v>
                </c:pt>
                <c:pt idx="2">
                  <c:v>2.05</c:v>
                </c:pt>
                <c:pt idx="3">
                  <c:v>1.95</c:v>
                </c:pt>
                <c:pt idx="4">
                  <c:v>1.92</c:v>
                </c:pt>
                <c:pt idx="5">
                  <c:v>1.83</c:v>
                </c:pt>
                <c:pt idx="6">
                  <c:v>2.89</c:v>
                </c:pt>
                <c:pt idx="7">
                  <c:v>1.81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0E1116"/>
                  </a:solidFill>
                  <a:latin typeface="Leelawade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Leelawade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4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5F2"/>
        </a:solidFill>
        <a:ln>
          <a:noFill/>
        </a:ln>
        <a:effectLst/>
      </c:spPr>
    </c:plotArea>
    <c:plotVisOnly val="1"/>
    <c:dispBlanksAs val="span"/>
  </c:chart>
  <c:spPr>
    <a:solidFill>
      <a:srgbClr val="F7F5F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ค่าใช้จ่าย</c:v>
                </c:pt>
              </c:strCache>
            </c:strRef>
          </c:tx>
          <c:spPr>
            <a:solidFill>
              <a:srgbClr val="39414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Leelawade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9414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9414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9414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9414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FF4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อื่นๆ</c:v>
                  </c:pt>
                  <c:pt idx="1">
                    <c:v>เบี้ยประกัน</c:v>
                  </c:pt>
                  <c:pt idx="2">
                    <c:v>ภาษี</c:v>
                  </c:pt>
                  <c:pt idx="3">
                    <c:v>ค่าใช้จ่ายพนักงาน</c:v>
                  </c:pt>
                  <c:pt idx="4">
                    <c:v>ค่าบริการทั่วไป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</c:v>
                </c:pt>
                <c:pt idx="1">
                  <c:v>0.27</c:v>
                </c:pt>
                <c:pt idx="2">
                  <c:v>1.41</c:v>
                </c:pt>
                <c:pt idx="3">
                  <c:v>4.26</c:v>
                </c:pt>
                <c:pt idx="4">
                  <c:v>7.8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Leelawade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8A93A3"/>
                </a:solidFill>
                <a:latin typeface="Leelawade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.4"/>
          <c:min val="0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116"/>
        </a:solidFill>
        <a:ln>
          <a:noFill/>
        </a:ln>
        <a:effectLst/>
      </c:spPr>
    </c:plotArea>
    <c:plotVisOnly val="1"/>
    <c:dispBlanksAs val="span"/>
  </c:chart>
  <c:spPr>
    <a:solidFill>
      <a:srgbClr val="0E111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ส่วนต่าง</c:v>
                </c:pt>
              </c:strCache>
            </c:strRef>
          </c:tx>
          <c:spPr>
            <a:solidFill>
              <a:srgbClr val="9AA3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E1116"/>
                    </a:solidFill>
                    <a:latin typeface="Leelawade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2B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2B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2805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2805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2805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3FF4F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กำไร 2568</c:v>
                  </c:pt>
                  <c:pt idx="1">
                    <c:v>รายได้หาย</c:v>
                  </c:pt>
                  <c:pt idx="2">
                    <c:v>ค่าบริการเพิ่ม</c:v>
                  </c:pt>
                  <c:pt idx="3">
                    <c:v>ค่าพนักงานลด</c:v>
                  </c:pt>
                  <c:pt idx="4">
                    <c:v>เบ็ดเตล็ดไม่ซ้ำ</c:v>
                  </c:pt>
                  <c:pt idx="5">
                    <c:v>อื่นๆ</c:v>
                  </c:pt>
                  <c:pt idx="6">
                    <c:v>กำไร 8ด. 2569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7.82</c:v>
                </c:pt>
                <c:pt idx="1">
                  <c:v>-9.75</c:v>
                </c:pt>
                <c:pt idx="2">
                  <c:v>-1.8</c:v>
                </c:pt>
                <c:pt idx="3">
                  <c:v>0.99</c:v>
                </c:pt>
                <c:pt idx="4">
                  <c:v>4.93</c:v>
                </c:pt>
                <c:pt idx="5">
                  <c:v>0.35</c:v>
                </c:pt>
                <c:pt idx="6">
                  <c:v>2.54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0E1116"/>
                  </a:solidFill>
                  <a:latin typeface="Leelawade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Leelawade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-11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5F2"/>
        </a:solidFill>
        <a:ln>
          <a:noFill/>
        </a:ln>
        <a:effectLst/>
      </c:spPr>
    </c:plotArea>
    <c:plotVisOnly val="1"/>
    <c:dispBlanksAs val="span"/>
  </c:chart>
  <c:spPr>
    <a:solidFill>
      <a:srgbClr val="F7F5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8A93A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บริษัท อินฟินิตี้ แพลทฟอร์ม จำกัด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5A647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รายงานผู้บริหาร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47088"/>
            <a:ext cx="1005840" cy="68580"/>
          </a:xfrm>
          <a:prstGeom prst="rect">
            <a:avLst/>
          </a:prstGeom>
          <a:solidFill>
            <a:srgbClr val="E3FF4F"/>
          </a:solidFill>
          <a:ln w="12700">
            <a:solidFill>
              <a:srgbClr val="E3FF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48256"/>
            <a:ext cx="7498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รายได้หาย 36.5%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กำไรหาย 67.5%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66928" y="396849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3A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ม.ค.–ก.ย. 2569 · เทียบทั้งปี 2568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4626864"/>
            <a:ext cx="8010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11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ตัวเลขหลักทั้งสี่ลดลงพร้อมกัน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010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ม.ค.–ก.ย. 2569 · เทียบทั้งปี 2568 · หน่วย: บาท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111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16.99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962656" y="20482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ล้านบาท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5237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2B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-36.5%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17720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ค่าใช้จ่าย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1700784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111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14.45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013448" y="20482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ล้านบาท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5237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6A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-23.7%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" y="2999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กำไรสุทธิ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218688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111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2.54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2962656" y="3566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ล้านบาท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40416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2B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-67.5%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2999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อัตรากำไรสุทธิ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3218688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111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15.0%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7013448" y="3566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ของรายได้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40416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2B2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-14.2 pt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46268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 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4626864"/>
            <a:ext cx="5833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 · หน่วย: บาท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11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รายได้ต่ำกว่าแผน 5 ใน 8 เดือน มีเพียง ก.ค. ที่ทะลุ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010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เส้นแผนล่าง 2,118,018 บาท/เดือน · แท่งเทาคือเดือนที่ต่ำกว่าแผน · หน่วย ล้านบาท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8010144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6268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 02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0" y="4626864"/>
            <a:ext cx="5833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 · หน่วย: บาท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ค่าบริการทั่วไปกิน 54% ของค่าใช้จ่ายทั้งหมด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010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ค่าใช้จ่ายรวม 14,453,214 บาท · หน่วย ล้านบาท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481328"/>
          <a:ext cx="8010144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6268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 03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0" y="4626864"/>
            <a:ext cx="5833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 · หน่วย: บาท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11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รายได้ที่หายไปคือสาเหตุเดียวที่ใหญ่พอจะอธิบายกำไร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010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ส่วนต่างกำไรสุทธิ 2568 → 8 เดือนแรก 2569 · หน่วย ล้านบาท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81381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6268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 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0" y="4626864"/>
            <a:ext cx="5833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 · หน่วย: บาท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สามสัญญาณที่ต้องจัดการภายในเดือนนี้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389888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88920" y="1444752"/>
            <a:ext cx="5788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ก.ย. 2569 รายได้บันทึก 0 บาท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88920" y="1773936"/>
            <a:ext cx="5788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แต่ค่าใช้จ่าย 422,964 บาทแล้ว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432304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5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+30%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88920" y="2487168"/>
            <a:ext cx="5788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ค่าบริการทั่วไป +30%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88920" y="2816352"/>
            <a:ext cx="5788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7,799,188 บาท เพิ่ม 1,798,789 จากปี 2568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347472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5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/ 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788920" y="3529584"/>
            <a:ext cx="5788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 5 ใน 8 เดือนต่ำกว่าแผน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88920" y="3858768"/>
            <a:ext cx="5788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พ.ค. ขาดทุน 19,811 บาท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46268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 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4626864"/>
            <a:ext cx="5833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 · หน่วย: บาท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11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สามการตัดสินใจ ต้นทุนต่ำ ผลชัดภายในไตรมาสนี้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426464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2D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572768" y="14813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ปิดเอกสารรายได้ ก.ย. ให้ครบก่อน 30 ก.ย.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72768" y="1828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ฝ่ายบัญชี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20840" y="1563624"/>
            <a:ext cx="1856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ต้นทุน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2D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572768" y="252374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ทบทวนสัญญาค่าบริการทั่วไป ลด 5%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2768" y="28712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ฝ่ายจัดซื้อ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2606040"/>
            <a:ext cx="1856232" cy="384048"/>
          </a:xfrm>
          <a:prstGeom prst="rect">
            <a:avLst/>
          </a:prstGeom>
          <a:solidFill>
            <a:srgbClr val="E3FF4F"/>
          </a:solidFill>
          <a:ln w="12700">
            <a:solidFill>
              <a:srgbClr val="E3FF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606040"/>
            <a:ext cx="1856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≈ 390,000 บาท/ปี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511296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2D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572768" y="35661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ล็อกเป้ารายได้ Q4 ที่ 2,342,072 บาท/เดือน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2768" y="39136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ฝ่ายขาย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3648456"/>
            <a:ext cx="1856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แผนบน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46268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 06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4626864"/>
            <a:ext cx="5833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 · หน่วย: บาท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10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8A93A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ประมาณการปิดปี 2569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1389888"/>
            <a:ext cx="1005840" cy="68580"/>
          </a:xfrm>
          <a:prstGeom prst="rect">
            <a:avLst/>
          </a:prstGeom>
          <a:solidFill>
            <a:srgbClr val="E3FF4F"/>
          </a:solidFill>
          <a:ln w="12700">
            <a:solidFill>
              <a:srgbClr val="E3FF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09344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25.49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160520" y="17556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3A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ล้านบาท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60520" y="2157984"/>
            <a:ext cx="4416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5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ต่ำกว่าปี 2568 เพียง 4.8%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A93A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หากรายได้ ก.ย.–ธ.ค. เท่าค่าเฉลี่ย 8 เดือน ปิดปีที่ 25.49 ล้านบาท ต่ำกว่าปี 2568 เพียง 4.8%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46268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 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4626864"/>
            <a:ext cx="5833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 · หน่วย: บาท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 Executive Report 2569</dc:title>
  <dc:subject>PptxGenJS Presentation</dc:subject>
  <dc:creator>INFI</dc:creator>
  <cp:lastModifiedBy>INFI</cp:lastModifiedBy>
  <cp:revision>1</cp:revision>
  <dcterms:created xsi:type="dcterms:W3CDTF">2026-09-08T07:14:31Z</dcterms:created>
  <dcterms:modified xsi:type="dcterms:W3CDTF">2026-09-08T07:14:31Z</dcterms:modified>
</cp:coreProperties>
</file>