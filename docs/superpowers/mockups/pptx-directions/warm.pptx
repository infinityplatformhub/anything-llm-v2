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6E4550">
                <a:alpha val="58000"/>
              </a:srgbClr>
            </a:solidFill>
            <a:ln w="9525" cap="flat">
              <a:solidFill>
                <a:srgbClr val="E9E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F1C"/>
                    </a:solidFill>
                    <a:latin typeface="Leelawade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  <c:pt idx="6">
                    <c:v>ก.ค.</c:v>
                  </c:pt>
                  <c:pt idx="7">
                    <c:v>ส.ค.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2.347595</c:v>
                </c:pt>
                <c:pt idx="1">
                  <c:v>2.199583</c:v>
                </c:pt>
                <c:pt idx="2">
                  <c:v>2.048822</c:v>
                </c:pt>
                <c:pt idx="3">
                  <c:v>1.948857</c:v>
                </c:pt>
                <c:pt idx="4">
                  <c:v>1.915481</c:v>
                </c:pt>
                <c:pt idx="5">
                  <c:v>1.827758</c:v>
                </c:pt>
                <c:pt idx="6">
                  <c:v>2.892494</c:v>
                </c:pt>
                <c:pt idx="7">
                  <c:v>1.813723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ค่าใช้จ่าย</c:v>
                </c:pt>
              </c:strCache>
            </c:strRef>
          </c:tx>
          <c:spPr>
            <a:solidFill>
              <a:srgbClr val="B3A188">
                <a:alpha val="58000"/>
              </a:srgbClr>
            </a:solidFill>
            <a:ln w="9525" cap="flat">
              <a:solidFill>
                <a:srgbClr val="E9E4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1F1C"/>
                    </a:solidFill>
                    <a:latin typeface="Leelawade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ม.ค.</c:v>
                  </c:pt>
                  <c:pt idx="1">
                    <c:v>ก.พ.</c:v>
                  </c:pt>
                  <c:pt idx="2">
                    <c:v>มี.ค.</c:v>
                  </c:pt>
                  <c:pt idx="3">
                    <c:v>เม.ย.</c:v>
                  </c:pt>
                  <c:pt idx="4">
                    <c:v>พ.ค.</c:v>
                  </c:pt>
                  <c:pt idx="5">
                    <c:v>มิ.ย.</c:v>
                  </c:pt>
                  <c:pt idx="6">
                    <c:v>ก.ค.</c:v>
                  </c:pt>
                  <c:pt idx="7">
                    <c:v>ส.ค.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2.034883</c:v>
                </c:pt>
                <c:pt idx="1">
                  <c:v>1.924496</c:v>
                </c:pt>
                <c:pt idx="2">
                  <c:v>1.942868</c:v>
                </c:pt>
                <c:pt idx="3">
                  <c:v>1.806044</c:v>
                </c:pt>
                <c:pt idx="4">
                  <c:v>1.935292</c:v>
                </c:pt>
                <c:pt idx="5">
                  <c:v>1.406618</c:v>
                </c:pt>
                <c:pt idx="6">
                  <c:v>1.546969</c:v>
                </c:pt>
                <c:pt idx="7">
                  <c:v>1.43308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41F1C"/>
                  </a:solidFill>
                  <a:latin typeface="Leelawade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807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1F1C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076"/>
                </a:solidFill>
                <a:latin typeface="Leelawadee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241F1C"/>
              </a:solidFill>
              <a:latin typeface="Leelawadee UI"/>
              <a:cs typeface="Leelawade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ค่าใช้จ่าย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B2E3D"/>
              </a:solidFill>
              <a:ln w="15875" cap="flat">
                <a:solidFill>
                  <a:srgbClr val="E9E4DB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7A4A50"/>
              </a:solidFill>
              <a:ln w="15875" cap="flat">
                <a:solidFill>
                  <a:srgbClr val="E9E4DB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0714B"/>
              </a:solidFill>
              <a:ln w="15875" cap="flat">
                <a:solidFill>
                  <a:srgbClr val="E9E4DB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09A5E"/>
              </a:solidFill>
              <a:ln w="15875" cap="flat">
                <a:solidFill>
                  <a:srgbClr val="E9E4DB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8C2A0"/>
              </a:solidFill>
              <a:ln w="15875" cap="flat">
                <a:solidFill>
                  <a:srgbClr val="E9E4DB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#,##0,, &quot;ล.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9E4DB"/>
                      </a:solidFill>
                      <a:latin typeface="Leelawadee U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,, &quot;ล.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9E4DB"/>
                      </a:solidFill>
                      <a:latin typeface="Leelawadee U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#,##0,, &quot;ล.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9E4DB"/>
                      </a:solidFill>
                      <a:latin typeface="Leelawadee U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#,##0,, &quot;ล.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9E4DB"/>
                      </a:solidFill>
                      <a:latin typeface="Leelawadee U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#,##0,, &quot;ล.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E9E4DB"/>
                      </a:solidFill>
                      <a:latin typeface="Leelawadee U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,, &quot;ล.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ค่าบริการทั่วไป</c:v>
                </c:pt>
                <c:pt idx="1">
                  <c:v>ค่าใช้จ่ายพนักงาน</c:v>
                </c:pt>
                <c:pt idx="2">
                  <c:v>ภาษี</c:v>
                </c:pt>
                <c:pt idx="3">
                  <c:v>เบี้ยประกัน</c:v>
                </c:pt>
                <c:pt idx="4">
                  <c:v>อื่นๆ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7799188</c:v>
                </c:pt>
                <c:pt idx="1">
                  <c:v>4255441</c:v>
                </c:pt>
                <c:pt idx="2">
                  <c:v>1411423</c:v>
                </c:pt>
                <c:pt idx="3">
                  <c:v>272405</c:v>
                </c:pt>
                <c:pt idx="4">
                  <c:v>714757</c:v>
                </c:pt>
              </c:numCache>
            </c:numRef>
          </c:val>
        </c:ser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ส่วนต่าง</c:v>
                </c:pt>
              </c:strCache>
            </c:strRef>
          </c:tx>
          <c:spPr>
            <a:solidFill>
              <a:srgbClr val="4B2E3D"/>
            </a:solidFill>
            <a:effectLst/>
          </c:spPr>
          <c:invertIfNegative val="0"/>
          <c:dLbls>
            <c:numFmt formatCode="+#,##0.0;-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1F1C"/>
                    </a:solidFill>
                    <a:latin typeface="Leelawade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2E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60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60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F60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839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839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B2E3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กำไรสุทธิ 8 ด. 2569</c:v>
                  </c:pt>
                  <c:pt idx="1">
                    <c:v>อื่นๆ</c:v>
                  </c:pt>
                  <c:pt idx="2">
                    <c:v>เบ็ดเตล็ด 2568 ไม่เกิดซ้ำ</c:v>
                  </c:pt>
                  <c:pt idx="3">
                    <c:v>ค่าพนักงานลด</c:v>
                  </c:pt>
                  <c:pt idx="4">
                    <c:v>ค่าบริการทั่วไปเพิ่ม</c:v>
                  </c:pt>
                  <c:pt idx="5">
                    <c:v>รายได้บริการหาย</c:v>
                  </c:pt>
                  <c:pt idx="6">
                    <c:v>กำไรสุทธิ 2568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2.541099</c:v>
                </c:pt>
                <c:pt idx="1">
                  <c:v>0.352677</c:v>
                </c:pt>
                <c:pt idx="2">
                  <c:v>4.932297</c:v>
                </c:pt>
                <c:pt idx="3">
                  <c:v>0.989751</c:v>
                </c:pt>
                <c:pt idx="4">
                  <c:v>-1.798789</c:v>
                </c:pt>
                <c:pt idx="5">
                  <c:v>-9.751592</c:v>
                </c:pt>
                <c:pt idx="6">
                  <c:v>7.816755</c:v>
                </c:pt>
              </c:numCache>
            </c:numRef>
          </c:val>
        </c:ser>
        <c:dLbls>
          <c:numFmt formatCode="+#,##0.0;-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241F1C"/>
                  </a:solidFill>
                  <a:latin typeface="Leelawade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1F1C"/>
                </a:solidFill>
                <a:latin typeface="Leelawade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17520"/>
          </a:xfrm>
          <a:prstGeom prst="rect">
            <a:avLst/>
          </a:prstGeom>
          <a:solidFill>
            <a:srgbClr val="4B2E3D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2395728"/>
            <a:ext cx="1243584" cy="1243584"/>
          </a:xfrm>
          <a:prstGeom prst="ellipse">
            <a:avLst/>
          </a:prstGeom>
          <a:solidFill>
            <a:srgbClr val="E9E4DB">
              <a:alpha val="0"/>
            </a:srgbClr>
          </a:solidFill>
          <a:ln w="19050">
            <a:solidFill>
              <a:srgbClr val="9A6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60" kern="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บริษัท อินฟินิตี้ แพลทฟอร์ม จำกัด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รายงานผลประกอบการ</a:t>
            </a:r>
            <a:endParaRPr lang="en-US" sz="3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ม.ค.–ก.ย. 2569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735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เทียบทั้งปี 2568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2686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หน่วย: บาท · 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กำไรหด 67.5% รายได้หายเร็วกว่าที่ลดค่าใช้จ่ายได้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463040"/>
          </a:xfrm>
          <a:prstGeom prst="rect">
            <a:avLst/>
          </a:prstGeom>
          <a:solidFill>
            <a:srgbClr val="4B2E3D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5453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801368"/>
            <a:ext cx="3328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16.99 ล้าน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96112" y="24231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2EEE7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4231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39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-36.5%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4600" y="242316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26.77 ล้าน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840480" cy="1463040"/>
          </a:xfrm>
          <a:prstGeom prst="rect">
            <a:avLst/>
          </a:prstGeom>
          <a:solidFill>
            <a:srgbClr val="6E4550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5453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9472" y="1801368"/>
            <a:ext cx="3328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14.45 ล้าน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4919472" y="24231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2EEE7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24231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6A1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-23.7%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42316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18.95 ล้าน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3840480" cy="1463040"/>
          </a:xfrm>
          <a:prstGeom prst="rect">
            <a:avLst/>
          </a:prstGeom>
          <a:solidFill>
            <a:srgbClr val="7A5A3E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1455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กำไรสุทธิ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401568"/>
            <a:ext cx="3328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2.54 ล้าน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896112" y="40233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2EEE7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0233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39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-67.5%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402336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7.82 ล้าน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3840480" cy="1463040"/>
          </a:xfrm>
          <a:prstGeom prst="rect">
            <a:avLst/>
          </a:prstGeom>
          <a:solidFill>
            <a:srgbClr val="8E6B3A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145536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อัตรากำไรสุทธิ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3401568"/>
            <a:ext cx="3328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15.0%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4919472" y="402336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2EEE7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402336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392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-14.2 pt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4023360"/>
            <a:ext cx="1709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ปี 2568 29.2%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รายได้รายเดือน · ล้านบาท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รายได้ต่ำกว่าแผน 5 ใน 8 เดือน มีเพียง ก.ค. ที่ทะลุแผนบน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929091"/>
            <a:ext cx="7543800" cy="189851"/>
          </a:xfrm>
          <a:prstGeom prst="rect">
            <a:avLst/>
          </a:prstGeom>
          <a:solidFill>
            <a:srgbClr val="9A6A12">
              <a:alpha val="18000"/>
            </a:srgbClr>
          </a:solidFill>
          <a:ln w="9525">
            <a:solidFill>
              <a:srgbClr val="9A6A12">
                <a:alpha val="45000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325880"/>
          <a:ext cx="7863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แถบสีคือแผนรายเดือน 2.12–2.34 ล้านบาท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โครงสร้างค่าใช้จ่าย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ค่าบริการทั่วไปกินค่าใช้จ่าย 54% เป็นจุดเดียวที่กดได้จริง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645920"/>
            <a:ext cx="201168" cy="201168"/>
          </a:xfrm>
          <a:prstGeom prst="rect">
            <a:avLst/>
          </a:prstGeom>
          <a:solidFill>
            <a:srgbClr val="4B2E3D"/>
          </a:solidFill>
          <a:ln/>
        </p:spPr>
      </p:sp>
      <p:sp>
        <p:nvSpPr>
          <p:cNvPr id="6" name="Text 3"/>
          <p:cNvSpPr/>
          <p:nvPr/>
        </p:nvSpPr>
        <p:spPr>
          <a:xfrm>
            <a:off x="5440680" y="15727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1572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7.80 ล้าน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20640" y="2194560"/>
            <a:ext cx="201168" cy="201168"/>
          </a:xfrm>
          <a:prstGeom prst="rect">
            <a:avLst/>
          </a:prstGeom>
          <a:solidFill>
            <a:srgbClr val="7A4A50"/>
          </a:solidFill>
          <a:ln/>
        </p:spPr>
      </p:sp>
      <p:sp>
        <p:nvSpPr>
          <p:cNvPr id="9" name="Text 6"/>
          <p:cNvSpPr/>
          <p:nvPr/>
        </p:nvSpPr>
        <p:spPr>
          <a:xfrm>
            <a:off x="5440680" y="21214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ค่าใช้จ่ายพนักงาน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452360" y="21214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4.26 ล้าน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201168" cy="201168"/>
          </a:xfrm>
          <a:prstGeom prst="rect">
            <a:avLst/>
          </a:prstGeom>
          <a:solidFill>
            <a:srgbClr val="A0714B"/>
          </a:solidFill>
          <a:ln/>
        </p:spPr>
      </p:sp>
      <p:sp>
        <p:nvSpPr>
          <p:cNvPr id="12" name="Text 9"/>
          <p:cNvSpPr/>
          <p:nvPr/>
        </p:nvSpPr>
        <p:spPr>
          <a:xfrm>
            <a:off x="5440680" y="26700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ภาษี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452360" y="267004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1.41 ล้าน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20640" y="3291840"/>
            <a:ext cx="201168" cy="201168"/>
          </a:xfrm>
          <a:prstGeom prst="rect">
            <a:avLst/>
          </a:prstGeom>
          <a:solidFill>
            <a:srgbClr val="C09A5E"/>
          </a:solidFill>
          <a:ln/>
        </p:spPr>
      </p:sp>
      <p:sp>
        <p:nvSpPr>
          <p:cNvPr id="15" name="Text 12"/>
          <p:cNvSpPr/>
          <p:nvPr/>
        </p:nvSpPr>
        <p:spPr>
          <a:xfrm>
            <a:off x="5440680" y="32186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เบี้ยประกัน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52360" y="32186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0.27 ล้าน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20640" y="3840480"/>
            <a:ext cx="201168" cy="201168"/>
          </a:xfrm>
          <a:prstGeom prst="rect">
            <a:avLst/>
          </a:prstGeom>
          <a:solidFill>
            <a:srgbClr val="D8C2A0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37673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อื่นๆ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52360" y="376732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0.71 ล้าน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สะพานกำไร · ล้านบาท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รายได้บริการที่หายไป 9.75 ล้าน คือสาเหตุเดียวที่ใหญ่พอ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25880"/>
          <a:ext cx="7863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ความเสี่ยง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สามความเสี่ยงที่ยังเปิดอยู่ ณ วันปิดรอบ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7863840" cy="0"/>
          </a:xfrm>
          <a:prstGeom prst="line">
            <a:avLst/>
          </a:prstGeom>
          <a:noFill/>
          <a:ln w="12700">
            <a:solidFill>
              <a:srgbClr val="CFC6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1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1591056"/>
            <a:ext cx="7205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ก.ย. 2569 รายได้บันทึก 0 บาท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8448" y="1993392"/>
            <a:ext cx="7205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แต่ค่าใช้จ่าย 422,964 บาทแล้ว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7863840" cy="0"/>
          </a:xfrm>
          <a:prstGeom prst="line">
            <a:avLst/>
          </a:prstGeom>
          <a:noFill/>
          <a:ln w="12700">
            <a:solidFill>
              <a:srgbClr val="CFC6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1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2615184"/>
            <a:ext cx="7205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ค่าบริการทั่วไป +30%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8448" y="3017520"/>
            <a:ext cx="7205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7,799,188 บาท เพิ่ม 1,798,789 จากปี 2568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7863840" cy="0"/>
          </a:xfrm>
          <a:prstGeom prst="line">
            <a:avLst/>
          </a:prstGeom>
          <a:noFill/>
          <a:ln w="12700">
            <a:solidFill>
              <a:srgbClr val="CFC6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7588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A1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3639312"/>
            <a:ext cx="7205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รายได้ 5 ใน 8 เดือนต่ำกว่าแผน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98448" y="4041648"/>
            <a:ext cx="7205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พ.ค. ขาดทุน 19,811 บาท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7863840" cy="0"/>
          </a:xfrm>
          <a:prstGeom prst="line">
            <a:avLst/>
          </a:prstGeom>
          <a:noFill/>
          <a:ln w="12700">
            <a:solidFill>
              <a:srgbClr val="CFC6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4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การตัดสินใจ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2062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สามการตัดสินใจ ปิดได้ภายในเดือนนี้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554480"/>
                <a:gridCol w="20116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4D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สิ่งที่ต้องทำ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4D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เจ้าของ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9E4D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ผลที่คาด</a:t>
                      </a:r>
                      <a:endParaRPr lang="en-US" sz="14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E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41F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ปิดเอกสารรายได้ ก.ย. ให้ครบก่อน 30 ก.ย.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8A8076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ฝ่ายบัญชี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A6A1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ต้นทุน 0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41F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ทบทวนสัญญาค่าบริการทั่วไป ลด 5%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8A8076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ฝ่ายจัดซื้อ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A6A1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≈ 390,000 บาท/ปี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41F1C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ล็อกเป้ารายได้ Q4 ที่ 2,342,072 บาท/เดือน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8A8076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ฝ่ายขาย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9A6A1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แผนบน</a:t>
                      </a:r>
                      <a:endParaRPr lang="en-US" sz="16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128016" marR="128016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FC6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4D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4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84832"/>
            <a:ext cx="9144000" cy="3058668"/>
          </a:xfrm>
          <a:prstGeom prst="rect">
            <a:avLst/>
          </a:prstGeom>
          <a:solidFill>
            <a:srgbClr val="4B2E3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737360"/>
            <a:ext cx="2926080" cy="0"/>
          </a:xfrm>
          <a:prstGeom prst="line">
            <a:avLst/>
          </a:prstGeom>
          <a:noFill/>
          <a:ln w="28575">
            <a:solidFill>
              <a:srgbClr val="9A6A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3268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60" kern="0" dirty="0">
                <a:solidFill>
                  <a:srgbClr val="8A807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ถ้าไม่ทำอะไรเลย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F1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ปิดปีที่ 25.49 ล้านบาท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หากรายได้ ก.ย.–ธ.ค. เท่าค่าเฉลี่ย 8 เดือน ปิดปีที่ 25.49 ล้านบาท ต่ำกว่าปี 2568 เพียง 4.8%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ต่ำกว่าปี 2568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91363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E4D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4.8%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017520" y="4626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ที่มา: FlowAccount · จัดทำ 7 ก.ย. 2569 · ฝ่ายบัญชี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6268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C4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บริษัท อินฟินิตี้ แพลทฟอร์ม จำกัด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INFI</dc:creator>
  <cp:lastModifiedBy>INFI</cp:lastModifiedBy>
  <cp:revision>1</cp:revision>
  <dcterms:created xsi:type="dcterms:W3CDTF">2026-09-08T07:14:32Z</dcterms:created>
  <dcterms:modified xsi:type="dcterms:W3CDTF">2026-09-08T07:14:32Z</dcterms:modified>
</cp:coreProperties>
</file>